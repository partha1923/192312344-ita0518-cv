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9" r:id="rId6"/>
    <p:sldId id="269" r:id="rId7"/>
    <p:sldId id="258" r:id="rId8"/>
    <p:sldId id="261" r:id="rId9"/>
    <p:sldId id="262" r:id="rId10"/>
    <p:sldId id="265" r:id="rId11"/>
    <p:sldId id="266" r:id="rId12"/>
    <p:sldId id="271" r:id="rId13"/>
    <p:sldId id="267" r:id="rId14"/>
    <p:sldId id="272" r:id="rId15"/>
    <p:sldId id="268" r:id="rId16"/>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34587" autoAdjust="0"/>
    <p:restoredTop sz="86378" autoAdjust="0"/>
  </p:normalViewPr>
  <p:slideViewPr>
    <p:cSldViewPr snapToGrid="0" snapToObjects="1" showGuides="1">
      <p:cViewPr>
        <p:scale>
          <a:sx n="108" d="100"/>
          <a:sy n="108" d="100"/>
        </p:scale>
        <p:origin x="-1426" y="-466"/>
      </p:cViewPr>
      <p:guideLst>
        <p:guide orient="horz" pos="1620"/>
        <p:guide pos="288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5" d="100"/>
          <a:sy n="75" d="100"/>
        </p:scale>
        <p:origin x="-3346" y="-72"/>
      </p:cViewPr>
      <p:guideLst>
        <p:guide orient="horz" pos="2880"/>
        <p:guide pos="1622"/>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https://ae01.alicdn.com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https://www.build-electronic-circuits.com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https://thumbs.dreamstime.com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https://www.slidemake.com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https://teachingwriting.stanford.edu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https://img.electronicdesign.com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https://i1.wp.com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E5E9CC1-C706-0F49-92D6-E571CC5EEA8F}"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12700" y="0"/>
            <a:ext cx="9173370" cy="514216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127DEEDD-21BB-47E7-9586-8D8CBE4E2385}"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a:xfrm>
            <a:off x="2019298" y="3778247"/>
            <a:ext cx="3910976" cy="20955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a:xfrm>
            <a:off x="6717676" y="3778247"/>
            <a:ext cx="413375" cy="20955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EB2F9E-C9E0-4EA3-A9E2-0DF5F691060E}"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2019299" y="2641598"/>
            <a:ext cx="5111751"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A7AE056-E91C-4F84-BAD6-96EF71B921FE}"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3EF51AE-A3EC-4B5C-BBEE-5BE19F0C3DE2}"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6" name="Straight Connector 15"/>
          <p:cNvCxnSpPr/>
          <p:nvPr/>
        </p:nvCxnSpPr>
        <p:spPr>
          <a:xfrm>
            <a:off x="1509542" y="2782939"/>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551B092-A2AF-4010-BE70-8179EC9A76A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spcBef>
                <a:spcPts val="505"/>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spcBef>
                <a:spcPts val="505"/>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4D5A4D6-2F3E-4AB3-9AAD-F86FA4EC764A}"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8" name="Straight Connector 1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1E66CEF-9313-493D-BEA7-2A0502D264C9}"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1E317F6-10D5-42F4-B923-70E953D3BE3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306C9CC-318C-4E70-91C2-BF570ACECC17}"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6" name="Straight Connector 15"/>
          <p:cNvCxnSpPr/>
          <p:nvPr/>
        </p:nvCxnSpPr>
        <p:spPr>
          <a:xfrm>
            <a:off x="1047127" y="2184400"/>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61C43A1E-86A2-4906-915B-B8948254E49F}"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3CBE081-D5C9-4A7B-9DD3-C94672E13DC0}"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F49C7BF-8F33-40E1-812C-FF531E0DDC2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70A88584-667A-4259-BFBF-A94EDBF130A5}"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endParaRPr lang="en-US" sz="6000" dirty="0">
              <a:solidFill>
                <a:schemeClr val="tx1"/>
              </a:solidFill>
              <a:effectLst/>
            </a:endParaRP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endParaRPr lang="en-US" sz="6000" dirty="0">
              <a:solidFill>
                <a:schemeClr val="tx1"/>
              </a:solidFill>
              <a:effectLst/>
            </a:endParaRPr>
          </a:p>
        </p:txBody>
      </p:sp>
      <p:cxnSp>
        <p:nvCxnSpPr>
          <p:cNvPr id="19" name="Straight Connector 18"/>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EE4C1AE-E74F-43DA-A6FD-DEBB92BB6EFF}"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B959E1D-07A2-424D-9F84-A8007D176C56}"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endParaRPr lang="en-US" sz="6000" dirty="0">
              <a:solidFill>
                <a:schemeClr val="tx1"/>
              </a:solidFill>
              <a:effectLst/>
            </a:endParaRP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endParaRPr lang="en-US" sz="6000" dirty="0">
              <a:solidFill>
                <a:schemeClr val="tx1"/>
              </a:solidFill>
              <a:effectLst/>
            </a:endParaRPr>
          </a:p>
        </p:txBody>
      </p:sp>
      <p:cxnSp>
        <p:nvCxnSpPr>
          <p:cNvPr id="26" name="Straight Connector 25"/>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2F99FFF-5ADB-47B1-9372-435859E07032}"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7DE19873-A706-45F1-9AAD-6004FE125DC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202F7F3-D792-441E-AF10-15B593449578}"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6647918" y="742950"/>
            <a:ext cx="0" cy="36576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AF5A71B3-99A7-4C14-A482-14D54FB923BE}" type="datetime6">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4.png"/><Relationship Id="rId2" Type="http://schemas.openxmlformats.org/officeDocument/2006/relationships/slideLayout" Target="../slideLayouts/slideLayout2.xml"/><Relationship Id="rId19" Type="http://schemas.openxmlformats.org/officeDocument/2006/relationships/image" Target="../media/image3.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1802" y="0"/>
            <a:ext cx="9172472" cy="5142161"/>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38DF114-BE6D-437F-A234-070E189FE2EA}"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630" indent="-214630" algn="l" defTabSz="342900" rtl="0" eaLnBrk="1" latinLnBrk="0" hangingPunct="1">
        <a:spcBef>
          <a:spcPct val="20000"/>
        </a:spcBef>
        <a:spcAft>
          <a:spcPts val="45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1pPr>
      <a:lvl2pPr marL="557530" indent="-214630" algn="l" defTabSz="342900" rtl="0" eaLnBrk="1" latinLnBrk="0" hangingPunct="1">
        <a:spcBef>
          <a:spcPct val="20000"/>
        </a:spcBef>
        <a:spcAft>
          <a:spcPts val="450"/>
        </a:spcAft>
        <a:buClr>
          <a:schemeClr val="accent1"/>
        </a:buClr>
        <a:buSzPct val="115000"/>
        <a:buFont typeface="Arial" panose="020B0604020202020204"/>
        <a:buChar char="•"/>
        <a:defRPr sz="1500" kern="1200" cap="none">
          <a:solidFill>
            <a:schemeClr val="tx1">
              <a:lumMod val="85000"/>
              <a:lumOff val="15000"/>
            </a:schemeClr>
          </a:solidFill>
          <a:effectLst/>
          <a:latin typeface="+mn-lt"/>
          <a:ea typeface="+mn-ea"/>
          <a:cs typeface="+mn-cs"/>
        </a:defRPr>
      </a:lvl2pPr>
      <a:lvl3pPr marL="900430" indent="-214630" algn="l" defTabSz="342900" rtl="0" eaLnBrk="1" latinLnBrk="0" hangingPunct="1">
        <a:spcBef>
          <a:spcPct val="20000"/>
        </a:spcBef>
        <a:spcAft>
          <a:spcPts val="450"/>
        </a:spcAft>
        <a:buClr>
          <a:schemeClr val="accent1"/>
        </a:buClr>
        <a:buSzPct val="115000"/>
        <a:buFont typeface="Arial" panose="020B0604020202020204"/>
        <a:buChar char="•"/>
        <a:defRPr sz="1350" kern="1200" cap="none">
          <a:solidFill>
            <a:schemeClr val="tx1">
              <a:lumMod val="85000"/>
              <a:lumOff val="15000"/>
            </a:schemeClr>
          </a:solidFill>
          <a:effectLst/>
          <a:latin typeface="+mn-lt"/>
          <a:ea typeface="+mn-ea"/>
          <a:cs typeface="+mn-cs"/>
        </a:defRPr>
      </a:lvl3pPr>
      <a:lvl4pPr marL="1157605" indent="-128905" algn="l" defTabSz="342900" rtl="0" eaLnBrk="1" latinLnBrk="0" hangingPunct="1">
        <a:spcBef>
          <a:spcPct val="20000"/>
        </a:spcBef>
        <a:spcAft>
          <a:spcPts val="450"/>
        </a:spcAft>
        <a:buClr>
          <a:schemeClr val="accent1"/>
        </a:buClr>
        <a:buSzPct val="115000"/>
        <a:buFont typeface="Arial" panose="020B0604020202020204"/>
        <a:buChar char="•"/>
        <a:defRPr sz="1200" kern="1200" cap="none">
          <a:solidFill>
            <a:schemeClr val="tx1">
              <a:lumMod val="85000"/>
              <a:lumOff val="15000"/>
            </a:schemeClr>
          </a:solidFill>
          <a:effectLst/>
          <a:latin typeface="+mn-lt"/>
          <a:ea typeface="+mn-ea"/>
          <a:cs typeface="+mn-cs"/>
        </a:defRPr>
      </a:lvl4pPr>
      <a:lvl5pPr marL="1500505" indent="-128905"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10.jpeg"/><Relationship Id="rId2" Type="http://schemas.openxmlformats.org/officeDocument/2006/relationships/image" Target="../media/image8.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13471" y="1803079"/>
            <a:ext cx="8229600" cy="935516"/>
          </a:xfrm>
          <a:prstGeom prst="rect">
            <a:avLst/>
          </a:prstGeom>
          <a:noFill/>
        </p:spPr>
        <p:txBody>
          <a:bodyPr wrap="square" rtlCol="0" anchor="ctr"/>
          <a:lstStyle/>
          <a:p>
            <a:pPr algn="ctr"/>
            <a:endParaRPr lang="en-US" sz="2400" b="1" u="sng" dirty="0">
              <a:solidFill>
                <a:srgbClr val="00206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3471" y="541460"/>
            <a:ext cx="8110024" cy="1125415"/>
          </a:xfrm>
          <a:prstGeom prst="rect">
            <a:avLst/>
          </a:prstGeom>
        </p:spPr>
      </p:pic>
      <p:sp>
        <p:nvSpPr>
          <p:cNvPr id="9" name="TextBox 8"/>
          <p:cNvSpPr txBox="1"/>
          <p:nvPr/>
        </p:nvSpPr>
        <p:spPr>
          <a:xfrm>
            <a:off x="4688058" y="2832784"/>
            <a:ext cx="4586068" cy="1568450"/>
          </a:xfrm>
          <a:prstGeom prst="rect">
            <a:avLst/>
          </a:prstGeom>
          <a:noFill/>
        </p:spPr>
        <p:txBody>
          <a:bodyPr wrap="square">
            <a:spAutoFit/>
          </a:bodyPr>
          <a:lstStyle/>
          <a:p>
            <a:pPr algn="ctr">
              <a:lnSpc>
                <a:spcPct val="150000"/>
              </a:lnSpc>
            </a:pPr>
            <a:r>
              <a:rPr lang="en-IN" sz="1600" b="1" dirty="0">
                <a:latin typeface="Times New Roman" panose="02020603050405020304" pitchFamily="18" charset="0"/>
                <a:cs typeface="Times New Roman" panose="02020603050405020304" pitchFamily="18" charset="0"/>
              </a:rPr>
              <a:t>PRESENTED BY</a:t>
            </a: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US" sz="1600" b="1" dirty="0" smtClean="0">
                <a:latin typeface="Times New Roman" panose="02020603050405020304" pitchFamily="18" charset="0"/>
                <a:cs typeface="Times New Roman" panose="02020603050405020304" pitchFamily="18" charset="0"/>
              </a:rPr>
              <a:t>K.ASWINI(192312397)</a:t>
            </a:r>
            <a:r>
              <a:rPr lang="en-IN" altLang="en-US" sz="1600" b="1" dirty="0" smtClean="0">
                <a:latin typeface="Times New Roman" panose="02020603050405020304" pitchFamily="18" charset="0"/>
                <a:cs typeface="Times New Roman" panose="02020603050405020304" pitchFamily="18" charset="0"/>
              </a:rPr>
              <a:t>-ECE</a:t>
            </a:r>
            <a:endParaRPr lang="en-US" sz="1600" b="1" dirty="0" smtClean="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P.PRAVALLIKA(192312338)-ECE</a:t>
            </a: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IN" sz="1600" b="1" dirty="0">
                <a:latin typeface="Times New Roman" panose="02020603050405020304" pitchFamily="18" charset="0"/>
                <a:cs typeface="Times New Roman" panose="02020603050405020304" pitchFamily="18" charset="0"/>
              </a:rPr>
              <a:t>R.SRIVIDYA(192472261)-CSE</a:t>
            </a:r>
            <a:endParaRPr lang="en-IN" sz="16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513472" y="3965119"/>
            <a:ext cx="2978946" cy="64516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Guided by</a:t>
            </a:r>
            <a:endParaRPr lang="en-IN" b="1" dirty="0">
              <a:latin typeface="Times New Roman" panose="02020603050405020304" pitchFamily="18" charset="0"/>
              <a:cs typeface="Times New Roman" panose="02020603050405020304" pitchFamily="18" charset="0"/>
            </a:endParaRPr>
          </a:p>
          <a:p>
            <a:r>
              <a:rPr lang="en-IN" b="1" dirty="0" smtClean="0">
                <a:latin typeface="Times New Roman" panose="02020603050405020304" pitchFamily="18" charset="0"/>
                <a:cs typeface="Times New Roman" panose="02020603050405020304" pitchFamily="18" charset="0"/>
              </a:rPr>
              <a:t>Dr.T.M.USHA</a:t>
            </a:r>
            <a:endParaRPr lang="en-IN"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559192" y="3060284"/>
            <a:ext cx="4874454" cy="521970"/>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COURSE CODE:ITA0518-COMPUTER VISION</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DATE:31 JULY 2026</a:t>
            </a:r>
            <a:endParaRPr lang="en-IN" sz="1400" b="1" dirty="0">
              <a:latin typeface="Times New Roman" panose="02020603050405020304" pitchFamily="18" charset="0"/>
              <a:cs typeface="Times New Roman" panose="02020603050405020304" pitchFamily="18" charset="0"/>
            </a:endParaRPr>
          </a:p>
        </p:txBody>
      </p:sp>
      <p:graphicFrame>
        <p:nvGraphicFramePr>
          <p:cNvPr id="3" name="Table 2"/>
          <p:cNvGraphicFramePr/>
          <p:nvPr/>
        </p:nvGraphicFramePr>
        <p:xfrm>
          <a:off x="2190750" y="1816100"/>
          <a:ext cx="4762500" cy="963930"/>
        </p:xfrm>
        <a:graphic>
          <a:graphicData uri="http://schemas.openxmlformats.org/drawingml/2006/table">
            <a:tbl>
              <a:tblPr/>
              <a:tblGrid>
                <a:gridCol w="4762500"/>
              </a:tblGrid>
              <a:tr h="963930">
                <a:tc>
                  <a:txBody>
                    <a:bodyPr/>
                    <a:p>
                      <a:pPr algn="ctr"/>
                      <a:r>
                        <a:rPr lang="en-US" altLang="en-US" sz="2000" b="1">
                          <a:latin typeface="Times New Roman" panose="02020603050405020304" pitchFamily="18" charset="0"/>
                          <a:cs typeface="Times New Roman" panose="02020603050405020304" pitchFamily="18" charset="0"/>
                        </a:rPr>
                        <a:t>A Real-Time  Drowsiness Detection and Alert System Using Computer Vision Techniques </a:t>
                      </a:r>
                      <a:endParaRPr lang="en-US" altLang="en-US" sz="2000" b="1">
                        <a:latin typeface="Times New Roman" panose="02020603050405020304" pitchFamily="18" charset="0"/>
                        <a:cs typeface="Times New Roman" panose="02020603050405020304" pitchFamily="18" charset="0"/>
                      </a:endParaRPr>
                    </a:p>
                  </a:txBody>
                  <a:tcPr marL="23177" marR="23177" marT="15557" marB="15557" anchor="ctr" anchorCtr="0">
                    <a:lnL w="7620" cap="flat" cmpd="sng">
                      <a:solidFill>
                        <a:srgbClr val="FFFFFF"/>
                      </a:solidFill>
                      <a:prstDash val="solid"/>
                      <a:headEnd type="none" w="med" len="med"/>
                      <a:tailEnd type="none" w="med" len="med"/>
                    </a:lnL>
                    <a:lnR w="7620" cap="flat" cmpd="sng">
                      <a:solidFill>
                        <a:srgbClr val="FFFFFF"/>
                      </a:solidFill>
                      <a:prstDash val="solid"/>
                      <a:headEnd type="none" w="med" len="med"/>
                      <a:tailEnd type="none" w="med" len="med"/>
                    </a:lnR>
                    <a:lnT w="7620" cap="flat" cmpd="sng">
                      <a:solidFill>
                        <a:srgbClr val="FFFFFF"/>
                      </a:solidFill>
                      <a:prstDash val="solid"/>
                      <a:headEnd type="none" w="med" len="med"/>
                      <a:tailEnd type="none" w="med" len="med"/>
                    </a:lnT>
                    <a:lnB w="7620" cap="flat" cmpd="sng">
                      <a:solidFill>
                        <a:srgbClr val="FFFFFF"/>
                      </a:solidFill>
                      <a:prstDash val="solid"/>
                      <a:headEnd type="none" w="med" len="med"/>
                      <a:tailEnd type="none" w="med" len="med"/>
                    </a:lnB>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39174" y="381196"/>
            <a:ext cx="8229600" cy="822960"/>
          </a:xfrm>
          <a:prstGeom prst="rect">
            <a:avLst/>
          </a:prstGeom>
          <a:noFill/>
        </p:spPr>
        <p:txBody>
          <a:bodyPr wrap="square" rtlCol="0" anchor="ctr"/>
          <a:lstStyle/>
          <a:p>
            <a:pPr algn="ctr"/>
            <a:r>
              <a:rPr lang="en-US" sz="3600" b="1" u="sng" dirty="0" smtClean="0">
                <a:solidFill>
                  <a:srgbClr val="002060"/>
                </a:solidFill>
                <a:latin typeface="Times New Roman" panose="02020603050405020304" pitchFamily="18" charset="0"/>
                <a:ea typeface="Optima" pitchFamily="34" charset="-122"/>
                <a:cs typeface="Times New Roman" panose="02020603050405020304" pitchFamily="18" charset="0"/>
              </a:rPr>
              <a:t>Introduction</a:t>
            </a:r>
            <a:endParaRPr lang="en-US" sz="3600" u="sng" dirty="0">
              <a:solidFill>
                <a:srgbClr val="002060"/>
              </a:solidFill>
              <a:latin typeface="Times New Roman" panose="02020603050405020304" pitchFamily="18" charset="0"/>
              <a:cs typeface="Times New Roman" panose="02020603050405020304" pitchFamily="18" charset="0"/>
            </a:endParaRPr>
          </a:p>
        </p:txBody>
      </p:sp>
      <p:sp>
        <p:nvSpPr>
          <p:cNvPr id="5" name="Text 1"/>
          <p:cNvSpPr/>
          <p:nvPr/>
        </p:nvSpPr>
        <p:spPr>
          <a:xfrm>
            <a:off x="605155" y="1227455"/>
            <a:ext cx="7820025" cy="2969260"/>
          </a:xfrm>
          <a:prstGeom prst="rect">
            <a:avLst/>
          </a:prstGeom>
          <a:noFill/>
        </p:spPr>
        <p:txBody>
          <a:bodyPr wrap="square" rtlCol="0" anchor="t"/>
          <a:lstStyle/>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A Real-Time Drowsiness Detection and Alert System is an intelligent application that monitors a person’s level of alertness using a camera. It is developed using Computer Vision, which enables machines to analyze and understand visual information.</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The system continuously captures live video and observes facial features such as eye movement, blinking rate, and yawning. By analyzing these features, it can detect signs of drowsiness or reduced attention in real time.</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When the system identifies that a person is becoming drowsy, it immediately generates an alert such as a sound or notification. This helps the user regain focus and stay attentive during tasks that require continuous concentration.</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This system can be applied in areas like online learning, workplaces, and monitoring systems, where maintaining attention is important. In simple terms, it acts as a smart tool that watches a person’s face and alerts them when they start feeling sleepy.</a:t>
            </a:r>
            <a:endParaRPr lang="en-US" altLang="en-US" sz="1600" dirty="0">
              <a:latin typeface="Times New Roman" panose="02020603050405020304" pitchFamily="18" charset="0"/>
              <a:cs typeface="Times New Roman" panose="02020603050405020304" pitchFamily="18" charset="0"/>
            </a:endParaRPr>
          </a:p>
        </p:txBody>
      </p:sp>
      <p:pic>
        <p:nvPicPr>
          <p:cNvPr id="1028"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316523" y="313006"/>
            <a:ext cx="8229600" cy="1079696"/>
          </a:xfrm>
          <a:prstGeom prst="rect">
            <a:avLst/>
          </a:prstGeom>
          <a:noFill/>
        </p:spPr>
        <p:txBody>
          <a:bodyPr wrap="square" rtlCol="0" anchor="ctr"/>
          <a:lstStyle/>
          <a:p>
            <a:pPr algn="ctr"/>
            <a:r>
              <a:rPr lang="en-IN" sz="3600" b="1" u="sng" dirty="0">
                <a:solidFill>
                  <a:srgbClr val="002060"/>
                </a:solidFill>
                <a:latin typeface="Times New Roman" panose="02020603050405020304" pitchFamily="18" charset="0"/>
                <a:cs typeface="Times New Roman" panose="02020603050405020304" pitchFamily="18" charset="0"/>
              </a:rPr>
              <a:t>Problem Statement</a:t>
            </a:r>
            <a:endParaRPr lang="en-US" sz="3600" b="1" u="sng" dirty="0">
              <a:solidFill>
                <a:srgbClr val="002060"/>
              </a:solidFill>
              <a:latin typeface="Times New Roman" panose="02020603050405020304" pitchFamily="18" charset="0"/>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p:cNvGraphicFramePr>
            <a:graphicFrameLocks noGrp="1"/>
          </p:cNvGraphicFramePr>
          <p:nvPr/>
        </p:nvGraphicFramePr>
        <p:xfrm>
          <a:off x="1930498" y="4846320"/>
          <a:ext cx="5001650" cy="297180"/>
        </p:xfrm>
        <a:graphic>
          <a:graphicData uri="http://schemas.openxmlformats.org/drawingml/2006/table">
            <a:tbl>
              <a:tblPr>
                <a:tableStyleId>{073A0DAA-6AF3-43AB-8588-CEC1D06C72B9}</a:tableStyleId>
              </a:tblPr>
              <a:tblGrid>
                <a:gridCol w="609806"/>
                <a:gridCol w="1243271"/>
                <a:gridCol w="1316087"/>
                <a:gridCol w="1832486"/>
              </a:tblGrid>
              <a:tr h="0">
                <a:tc>
                  <a:txBody>
                    <a:bodyPr/>
                    <a:lstStyle/>
                    <a:p>
                      <a:endParaRPr lang="en-IN" dirty="0"/>
                    </a:p>
                  </a:txBody>
                  <a:tcPr/>
                </a:tc>
                <a:tc>
                  <a:txBody>
                    <a:bodyPr/>
                    <a:lstStyle/>
                    <a:p>
                      <a:endParaRPr lang="en-IN"/>
                    </a:p>
                  </a:txBody>
                  <a:tcPr anchor="ctr"/>
                </a:tc>
                <a:tc>
                  <a:txBody>
                    <a:bodyPr/>
                    <a:lstStyle/>
                    <a:p>
                      <a:endParaRPr lang="en-IN"/>
                    </a:p>
                  </a:txBody>
                  <a:tcPr/>
                </a:tc>
                <a:tc>
                  <a:txBody>
                    <a:bodyPr/>
                    <a:lstStyle/>
                    <a:p>
                      <a:endParaRPr lang="en-IN" dirty="0"/>
                    </a:p>
                  </a:txBody>
                  <a:tcPr/>
                </a:tc>
              </a:tr>
            </a:tbl>
          </a:graphicData>
        </a:graphic>
      </p:graphicFrame>
      <p:sp>
        <p:nvSpPr>
          <p:cNvPr id="2" name="TextBox 1"/>
          <p:cNvSpPr txBox="1"/>
          <p:nvPr/>
        </p:nvSpPr>
        <p:spPr>
          <a:xfrm>
            <a:off x="647700" y="1256030"/>
            <a:ext cx="7733665" cy="3415030"/>
          </a:xfrm>
          <a:prstGeom prst="rect">
            <a:avLst/>
          </a:prstGeom>
          <a:noFill/>
        </p:spPr>
        <p:txBody>
          <a:bodyPr wrap="square" rtlCol="0">
            <a:spAutoFit/>
          </a:bodyPr>
          <a:lstStyle/>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Drowsiness and fatigue can significantly reduce alertness, leading to decreased attention, slower reaction times, and increased risk in critical situations.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Traditional monitoring methods are either manual, unreliable, or require expensive hardware, making them less accessible for real-time applications.</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There is a need for an automated, accurate, and cost-effective system that can continuously monitor human alertness levels and detect signs of drowsiness using visual cues such as eye closure and facial behavior.</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The system should provide instant alerts to prevent potential risks and improve overall safety.</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60010" y="639825"/>
            <a:ext cx="7200897" cy="532544"/>
          </a:xfrm>
        </p:spPr>
        <p:txBody>
          <a:bodyPr>
            <a:normAutofit fontScale="90000"/>
          </a:bodyPr>
          <a:lstStyle/>
          <a:p>
            <a:br>
              <a:rPr lang="en-IN" b="1" u="sng" dirty="0">
                <a:solidFill>
                  <a:schemeClr val="accent3">
                    <a:lumMod val="50000"/>
                  </a:schemeClr>
                </a:solidFill>
              </a:rPr>
            </a:br>
            <a:br>
              <a:rPr lang="en-IN" b="1" u="sng" dirty="0" smtClean="0">
                <a:solidFill>
                  <a:schemeClr val="accent3">
                    <a:lumMod val="50000"/>
                  </a:schemeClr>
                </a:solidFill>
              </a:rPr>
            </a:br>
            <a:r>
              <a:rPr lang="en-IN" b="1" u="sng" dirty="0" smtClean="0">
                <a:solidFill>
                  <a:schemeClr val="accent3">
                    <a:lumMod val="50000"/>
                  </a:schemeClr>
                </a:solidFill>
                <a:latin typeface="Times New Roman" panose="02020603050405020304" pitchFamily="18" charset="0"/>
                <a:cs typeface="Times New Roman" panose="02020603050405020304" pitchFamily="18" charset="0"/>
              </a:rPr>
              <a:t>OBJECTIVES</a:t>
            </a:r>
            <a:br>
              <a:rPr lang="en-IN" b="1" u="sng" dirty="0">
                <a:solidFill>
                  <a:schemeClr val="accent3">
                    <a:lumMod val="50000"/>
                  </a:schemeClr>
                </a:solidFill>
              </a:rPr>
            </a:br>
            <a:br>
              <a:rPr lang="en-IN" b="1" u="sng" dirty="0" smtClean="0">
                <a:solidFill>
                  <a:schemeClr val="accent3">
                    <a:lumMod val="50000"/>
                  </a:schemeClr>
                </a:solidFill>
              </a:rPr>
            </a:br>
            <a:endParaRPr lang="en-IN" sz="1800" b="1" u="sng"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AF5A71B3-99A7-4C14-A482-14D54FB923BE}" type="datetime6">
              <a:rPr lang="en-US" smtClean="0"/>
            </a:fld>
            <a:endParaRPr lang="en-US"/>
          </a:p>
        </p:txBody>
      </p:sp>
      <p:pic>
        <p:nvPicPr>
          <p:cNvPr id="4"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38554" y="1512277"/>
            <a:ext cx="7512145" cy="2861310"/>
          </a:xfrm>
          <a:prstGeom prst="rect">
            <a:avLst/>
          </a:prstGeom>
          <a:noFill/>
        </p:spPr>
        <p:txBody>
          <a:bodyPr wrap="square" rtlCol="0">
            <a:spAutoFit/>
          </a:bodyPr>
          <a:lstStyle/>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develop a real-time drowsiness detection system using computer vision techniques.</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continuously monitor eye movements and facial features through a camera.</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accurately detect signs of drowsiness such as eye closure and blinking patterns.</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provide an instant alert (alarm/buzzer) when drowsiness is detected.</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enhance safety by reducing fatigue-related risks.</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design a cost-effective and easily deployable system using Python and OpenCV.</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320040"/>
            <a:ext cx="8229600" cy="822960"/>
          </a:xfrm>
          <a:prstGeom prst="rect">
            <a:avLst/>
          </a:prstGeom>
          <a:noFill/>
        </p:spPr>
        <p:txBody>
          <a:bodyPr wrap="square" rtlCol="0" anchor="ctr"/>
          <a:lstStyle/>
          <a:p>
            <a:pPr algn="ctr"/>
            <a:r>
              <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rPr>
              <a:t>Literature Surevy</a:t>
            </a:r>
            <a:endPar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44" y="455099"/>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1185620" y="4068305"/>
            <a:ext cx="1298242" cy="261610"/>
          </a:xfrm>
          <a:prstGeom prst="rect">
            <a:avLst/>
          </a:prstGeom>
          <a:noFill/>
        </p:spPr>
        <p:txBody>
          <a:bodyPr wrap="square" rtlCol="0">
            <a:spAutoFit/>
          </a:bodyPr>
          <a:lstStyle/>
          <a:p>
            <a:endParaRPr lang="en-IN" sz="1100" dirty="0">
              <a:latin typeface="Times New Roman" panose="02020603050405020304" pitchFamily="18" charset="0"/>
              <a:cs typeface="Times New Roman" panose="02020603050405020304" pitchFamily="18" charset="0"/>
            </a:endParaRPr>
          </a:p>
        </p:txBody>
      </p:sp>
      <p:graphicFrame>
        <p:nvGraphicFramePr>
          <p:cNvPr id="7" name="Table 6"/>
          <p:cNvGraphicFramePr/>
          <p:nvPr/>
        </p:nvGraphicFramePr>
        <p:xfrm>
          <a:off x="1183640" y="1143000"/>
          <a:ext cx="6926580" cy="3339465"/>
        </p:xfrm>
        <a:graphic>
          <a:graphicData uri="http://schemas.openxmlformats.org/drawingml/2006/table">
            <a:tbl>
              <a:tblPr/>
              <a:tblGrid>
                <a:gridCol w="1731645"/>
                <a:gridCol w="1731645"/>
                <a:gridCol w="1731645"/>
                <a:gridCol w="1731645"/>
              </a:tblGrid>
              <a:tr h="254000">
                <a:tc>
                  <a:txBody>
                    <a:bodyPr/>
                    <a:p>
                      <a:r>
                        <a:rPr sz="1100" b="1">
                          <a:latin typeface="Times New Roman" panose="02020603050405020304" pitchFamily="18" charset="0"/>
                          <a:cs typeface="Times New Roman" panose="02020603050405020304" pitchFamily="18" charset="0"/>
                        </a:rPr>
                        <a:t>Author(s)</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Year</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Method / Technology Used</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Limitation</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762635">
                <a:tc>
                  <a:txBody>
                    <a:bodyPr/>
                    <a:p>
                      <a:r>
                        <a:rPr sz="1100" b="1">
                          <a:latin typeface="Times New Roman" panose="02020603050405020304" pitchFamily="18" charset="0"/>
                          <a:cs typeface="Times New Roman" panose="02020603050405020304" pitchFamily="18" charset="0"/>
                        </a:rPr>
                        <a:t>Zhang et al.</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2024</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CNN-based eye state detection using deep learning</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Requires large dataset and high computational power</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508000">
                <a:tc>
                  <a:txBody>
                    <a:bodyPr/>
                    <a:p>
                      <a:r>
                        <a:rPr sz="1100" b="1">
                          <a:latin typeface="Times New Roman" panose="02020603050405020304" pitchFamily="18" charset="0"/>
                          <a:cs typeface="Times New Roman" panose="02020603050405020304" pitchFamily="18" charset="0"/>
                        </a:rPr>
                        <a:t>Sharma &amp; Gupta</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2023</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OpenCV with Haar Cascade for face and eye detection</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Performance decreases in low lighting conditions</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762000">
                <a:tc>
                  <a:txBody>
                    <a:bodyPr/>
                    <a:p>
                      <a:r>
                        <a:rPr sz="1100" b="1">
                          <a:latin typeface="Times New Roman" panose="02020603050405020304" pitchFamily="18" charset="0"/>
                          <a:cs typeface="Times New Roman" panose="02020603050405020304" pitchFamily="18" charset="0"/>
                        </a:rPr>
                        <a:t>Kumar et al.</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2023</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YOLOv5 for real-time face detection with drowsiness classification</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High computational cost and hardware dependency</a:t>
                      </a:r>
                      <a:endParaRPr sz="1100" b="1">
                        <a:latin typeface="Times New Roman" panose="02020603050405020304" pitchFamily="18" charset="0"/>
                        <a:cs typeface="Times New Roman" panose="02020603050405020304" pitchFamily="18" charset="0"/>
                      </a:endParaRPr>
                    </a:p>
                  </a:txBody>
                  <a:tcPr marL="0" marR="0" marT="0" marB="0" anchor="ctr" anchorCtr="1">
                    <a:lnL>
                      <a:noFill/>
                    </a:lnL>
                    <a:lnR>
                      <a:noFill/>
                    </a:lnR>
                    <a:lnT>
                      <a:noFill/>
                    </a:lnT>
                    <a:lnB>
                      <a:noFill/>
                    </a:lnB>
                    <a:noFill/>
                  </a:tcPr>
                </a:tc>
              </a:tr>
              <a:tr h="526415">
                <a:tc>
                  <a:txBody>
                    <a:bodyPr/>
                    <a:p>
                      <a:r>
                        <a:rPr sz="1100" b="1">
                          <a:latin typeface="Times New Roman" panose="02020603050405020304" pitchFamily="18" charset="0"/>
                          <a:cs typeface="Times New Roman" panose="02020603050405020304" pitchFamily="18" charset="0"/>
                        </a:rPr>
                        <a:t>Chen et al.</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2022</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Dlib facial landmarks with Eye Aspect Ratio (EAR) method</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Sensitive to head movement and camera angle</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526415">
                <a:tc>
                  <a:txBody>
                    <a:bodyPr/>
                    <a:p>
                      <a:r>
                        <a:rPr sz="1100" b="1">
                          <a:latin typeface="Times New Roman" panose="02020603050405020304" pitchFamily="18" charset="0"/>
                          <a:cs typeface="Times New Roman" panose="02020603050405020304" pitchFamily="18" charset="0"/>
                        </a:rPr>
                        <a:t>Singh &amp; Verma</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2021</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Machine Learning using SVM for drowsiness detection</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b="1">
                          <a:latin typeface="Times New Roman" panose="02020603050405020304" pitchFamily="18" charset="0"/>
                          <a:cs typeface="Times New Roman" panose="02020603050405020304" pitchFamily="18" charset="0"/>
                        </a:rPr>
                        <a:t>Lower accuracy compared to deep learning approaches</a:t>
                      </a:r>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1035854" y="641545"/>
            <a:ext cx="7005711" cy="638224"/>
          </a:xfrm>
          <a:prstGeom prst="rect">
            <a:avLst/>
          </a:prstGeom>
          <a:noFill/>
        </p:spPr>
        <p:txBody>
          <a:bodyPr wrap="square" rtlCol="0" anchor="ctr"/>
          <a:lstStyle/>
          <a:p>
            <a:pPr algn="ctr"/>
            <a:r>
              <a:rPr lang="en-IN" altLang="en-US" sz="2800" b="1" u="sng" dirty="0">
                <a:solidFill>
                  <a:srgbClr val="002060"/>
                </a:solidFill>
                <a:latin typeface="Times New Roman" panose="02020603050405020304" pitchFamily="18" charset="0"/>
                <a:ea typeface="Optima" pitchFamily="34" charset="-122"/>
                <a:cs typeface="Times New Roman" panose="02020603050405020304" pitchFamily="18" charset="0"/>
              </a:rPr>
              <a:t>EXISTING SYSTEM </a:t>
            </a:r>
            <a:endParaRPr lang="en-IN" altLang="en-US" sz="2800" u="sng" dirty="0">
              <a:solidFill>
                <a:srgbClr val="002060"/>
              </a:solidFill>
              <a:latin typeface="Times New Roman" panose="02020603050405020304" pitchFamily="18" charset="0"/>
              <a:cs typeface="Times New Roman" panose="02020603050405020304" pitchFamily="18" charset="0"/>
            </a:endParaRPr>
          </a:p>
        </p:txBody>
      </p:sp>
      <p:sp>
        <p:nvSpPr>
          <p:cNvPr id="5" name="Text 1"/>
          <p:cNvSpPr/>
          <p:nvPr/>
        </p:nvSpPr>
        <p:spPr>
          <a:xfrm>
            <a:off x="808892" y="1310102"/>
            <a:ext cx="7542162" cy="914938"/>
          </a:xfrm>
          <a:prstGeom prst="rect">
            <a:avLst/>
          </a:prstGeom>
          <a:noFill/>
        </p:spPr>
        <p:txBody>
          <a:bodyPr wrap="square" rtlCol="0" anchor="t"/>
          <a:lstStyle/>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Traditional methods rely on manual observation or self-awareness to identify drowsiness.</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Basic systems use simple sensors (like steering patterns or motion detection), which are not highly reliable.</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Some approaches use wearable devices to monitor physiological signals (heart rate, EEG), but they are uncomfortable and costly.</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Existing vision-based systems using Haar Cascade or basic image processing have limited accuracy.</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Many systems fail under poor lighting conditions, head movement, or occlusions.</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Lack of real-time performance and immediate alert mechanisms in simpler models.</a:t>
            </a:r>
            <a:endParaRPr lang="en-US" altLang="en-US" dirty="0">
              <a:latin typeface="Times New Roman" panose="02020603050405020304" pitchFamily="18" charset="0"/>
              <a:cs typeface="Times New Roman" panose="02020603050405020304" pitchFamily="18" charset="0"/>
            </a:endParaRPr>
          </a:p>
        </p:txBody>
      </p:sp>
      <p:pic>
        <p:nvPicPr>
          <p:cNvPr id="2"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4"/>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1152732" y="598029"/>
            <a:ext cx="6679894" cy="822960"/>
          </a:xfrm>
          <a:prstGeom prst="rect">
            <a:avLst/>
          </a:prstGeom>
          <a:noFill/>
        </p:spPr>
        <p:txBody>
          <a:bodyPr wrap="square" rtlCol="0" anchor="ctr"/>
          <a:lstStyle/>
          <a:p>
            <a:pPr algn="ctr"/>
            <a:r>
              <a:rPr lang="en-IN" altLang="en-US" sz="2400" b="1" u="sng" dirty="0">
                <a:solidFill>
                  <a:srgbClr val="002060"/>
                </a:solidFill>
                <a:latin typeface="Times New Roman" panose="02020603050405020304" pitchFamily="18" charset="0"/>
                <a:cs typeface="Times New Roman" panose="02020603050405020304" pitchFamily="18" charset="0"/>
              </a:rPr>
              <a:t>PROPOSED SYSTEM </a:t>
            </a:r>
            <a:endParaRPr lang="en-IN" altLang="en-US" sz="2400" b="1" u="sng" dirty="0">
              <a:solidFill>
                <a:srgbClr val="002060"/>
              </a:solidFill>
              <a:latin typeface="Times New Roman" panose="02020603050405020304" pitchFamily="18" charset="0"/>
              <a:cs typeface="Times New Roman" panose="02020603050405020304" pitchFamily="18" charset="0"/>
            </a:endParaRPr>
          </a:p>
        </p:txBody>
      </p:sp>
      <p:pic>
        <p:nvPicPr>
          <p:cNvPr id="2"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029" y="579463"/>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
          <p:cNvSpPr>
            <a:spLocks noChangeArrowheads="1"/>
          </p:cNvSpPr>
          <p:nvPr/>
        </p:nvSpPr>
        <p:spPr bwMode="auto">
          <a:xfrm>
            <a:off x="859814" y="1525093"/>
            <a:ext cx="7723116" cy="3138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lvl="0" indent="-285750" algn="just" defTabSz="914400" eaLnBrk="0" fontAlgn="base" hangingPunct="0">
              <a:spcBef>
                <a:spcPct val="0"/>
              </a:spcBef>
              <a:spcAft>
                <a:spcPct val="0"/>
              </a:spcAft>
              <a:buFont typeface="Wingdings" panose="05000000000000000000" pitchFamily="2" charset="2"/>
              <a:buChar char="Ø"/>
            </a:pPr>
            <a:r>
              <a:rPr lang="en-IN" altLang="en-US" dirty="0">
                <a:latin typeface="Times New Roman" panose="02020603050405020304" pitchFamily="18" charset="0"/>
                <a:cs typeface="Times New Roman" panose="02020603050405020304" pitchFamily="18" charset="0"/>
              </a:rPr>
              <a:t>T</a:t>
            </a:r>
            <a:r>
              <a:rPr lang="en-US" altLang="en-US" dirty="0">
                <a:latin typeface="Times New Roman" panose="02020603050405020304" pitchFamily="18" charset="0"/>
                <a:cs typeface="Times New Roman" panose="02020603050405020304" pitchFamily="18" charset="0"/>
              </a:rPr>
              <a:t>he system uses computer vision techniques to monitor facial features in real time through a camera.</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It detects drowsiness by analyzing eye closure, blinking rate, and facial landmarks.</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Implements Eye Aspect Ratio (EAR) or deep learning models for accurate detection.</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Uses Python with OpenCV and Dlib/CNN models for efficient image processing.</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Provides an instant alert (alarm/buzzer sound) when drowsiness is detected.</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Designed to work in real-time with improved accuracy compared to existing methods.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309489" y="423839"/>
            <a:ext cx="8229600" cy="822960"/>
          </a:xfrm>
          <a:prstGeom prst="rect">
            <a:avLst/>
          </a:prstGeom>
          <a:noFill/>
        </p:spPr>
        <p:txBody>
          <a:bodyPr wrap="square" rtlCol="0" anchor="ctr"/>
          <a:lstStyle/>
          <a:p>
            <a:pPr algn="ctr"/>
            <a:r>
              <a:rPr lang="en-IN" altLang="en-US" sz="3600" b="1" u="sng" dirty="0">
                <a:solidFill>
                  <a:srgbClr val="002060"/>
                </a:solidFill>
                <a:latin typeface="Times New Roman" panose="02020603050405020304" pitchFamily="18" charset="0"/>
                <a:cs typeface="Times New Roman" panose="02020603050405020304" pitchFamily="18" charset="0"/>
              </a:rPr>
              <a:t>Technologies Used</a:t>
            </a:r>
            <a:endParaRPr lang="en-IN" altLang="en-US" sz="3600" u="sng" dirty="0">
              <a:solidFill>
                <a:srgbClr val="002060"/>
              </a:solidFill>
              <a:latin typeface="Times New Roman" panose="02020603050405020304" pitchFamily="18" charset="0"/>
              <a:cs typeface="Times New Roman" panose="02020603050405020304" pitchFamily="18" charset="0"/>
            </a:endParaRPr>
          </a:p>
        </p:txBody>
      </p:sp>
      <p:sp>
        <p:nvSpPr>
          <p:cNvPr id="5" name="Text 1"/>
          <p:cNvSpPr/>
          <p:nvPr/>
        </p:nvSpPr>
        <p:spPr>
          <a:xfrm>
            <a:off x="1366289" y="1350655"/>
            <a:ext cx="1681285" cy="369333"/>
          </a:xfrm>
          <a:prstGeom prst="rect">
            <a:avLst/>
          </a:prstGeom>
          <a:noFill/>
        </p:spPr>
        <p:txBody>
          <a:bodyPr wrap="square" rtlCol="0" anchor="t"/>
          <a:lstStyle/>
          <a:p>
            <a:endParaRPr lang="en-US" sz="1600" b="1" u="sng" dirty="0">
              <a:latin typeface="Times New Roman" panose="02020603050405020304" pitchFamily="18" charset="0"/>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683260" y="1488440"/>
            <a:ext cx="7312025" cy="2306955"/>
          </a:xfrm>
          <a:prstGeom prst="rect">
            <a:avLst/>
          </a:prstGeom>
        </p:spPr>
        <p:txBody>
          <a:bodyPr wrap="square">
            <a:spAutoFit/>
          </a:bodyPr>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Python – Core programming language used for implementation.</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OpenCV – For real-time image processing and video capture.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Dlib – For facial landmark detection (eyes, face features).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Computer Vision – To analyze visual data and detect drowsiness patterns.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Eye Aspect Ratio (EAR) – Algorithm to measure eye closure and blinking.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NumPy – For numerical computations and array processing.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Imutils – For image processing convenience functions.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Machine Learning / Deep Learning (optional) – For improving detection accuracy.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Alarm System (Beep/Sound Alert) – To notify when drowsiness is detected.</a:t>
            </a:r>
            <a:endParaRPr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407962"/>
            <a:ext cx="8229600" cy="891371"/>
          </a:xfrm>
          <a:prstGeom prst="rect">
            <a:avLst/>
          </a:prstGeom>
          <a:noFill/>
        </p:spPr>
        <p:txBody>
          <a:bodyPr wrap="square" rtlCol="0" anchor="ctr"/>
          <a:lstStyle/>
          <a:p>
            <a:pPr algn="ctr"/>
            <a:r>
              <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rPr>
              <a:t>DATA SET </a:t>
            </a:r>
            <a:endPar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63184"/>
            <a:ext cx="769568" cy="836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p:cNvGraphicFramePr/>
          <p:nvPr/>
        </p:nvGraphicFramePr>
        <p:xfrm>
          <a:off x="641350" y="1286510"/>
          <a:ext cx="7861300" cy="3087370"/>
        </p:xfrm>
        <a:graphic>
          <a:graphicData uri="http://schemas.openxmlformats.org/drawingml/2006/table">
            <a:tbl>
              <a:tblPr/>
              <a:tblGrid>
                <a:gridCol w="1572260"/>
                <a:gridCol w="1572260"/>
                <a:gridCol w="1572260"/>
                <a:gridCol w="1572260"/>
                <a:gridCol w="1572260"/>
              </a:tblGrid>
              <a:tr h="280670">
                <a:tc>
                  <a:txBody>
                    <a:bodyPr/>
                    <a:p>
                      <a:r>
                        <a:rPr sz="1100">
                          <a:latin typeface="Times New Roman" panose="02020603050405020304" pitchFamily="18" charset="0"/>
                          <a:cs typeface="Times New Roman" panose="02020603050405020304" pitchFamily="18" charset="0"/>
                        </a:rPr>
                        <a:t>S.No</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Eye Aspect Ratio (EAR)</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Blink Count</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Eye State</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Label</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280670">
                <a:tc>
                  <a:txBody>
                    <a:bodyPr/>
                    <a:p>
                      <a:r>
                        <a:rPr sz="1100">
                          <a:latin typeface="Times New Roman" panose="02020603050405020304" pitchFamily="18" charset="0"/>
                          <a:cs typeface="Times New Roman" panose="02020603050405020304" pitchFamily="18" charset="0"/>
                        </a:rPr>
                        <a:t>1</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0.32</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5</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Open</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Alert</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280670">
                <a:tc>
                  <a:txBody>
                    <a:bodyPr/>
                    <a:p>
                      <a:r>
                        <a:rPr sz="1100">
                          <a:latin typeface="Times New Roman" panose="02020603050405020304" pitchFamily="18" charset="0"/>
                          <a:cs typeface="Times New Roman" panose="02020603050405020304" pitchFamily="18" charset="0"/>
                        </a:rPr>
                        <a:t>2</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0.15</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20</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Closed</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Drowsy</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280670">
                <a:tc>
                  <a:txBody>
                    <a:bodyPr/>
                    <a:p>
                      <a:r>
                        <a:rPr sz="1100">
                          <a:latin typeface="Times New Roman" panose="02020603050405020304" pitchFamily="18" charset="0"/>
                          <a:cs typeface="Times New Roman" panose="02020603050405020304" pitchFamily="18" charset="0"/>
                        </a:rPr>
                        <a:t>3</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0.30</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6</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Open</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Alert</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280670">
                <a:tc>
                  <a:txBody>
                    <a:bodyPr/>
                    <a:p>
                      <a:r>
                        <a:rPr sz="1100">
                          <a:latin typeface="Times New Roman" panose="02020603050405020304" pitchFamily="18" charset="0"/>
                          <a:cs typeface="Times New Roman" panose="02020603050405020304" pitchFamily="18" charset="0"/>
                        </a:rPr>
                        <a:t>4</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0.12</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25</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Closed</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Drowsy</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280670">
                <a:tc>
                  <a:txBody>
                    <a:bodyPr/>
                    <a:p>
                      <a:r>
                        <a:rPr sz="1100">
                          <a:latin typeface="Times New Roman" panose="02020603050405020304" pitchFamily="18" charset="0"/>
                          <a:cs typeface="Times New Roman" panose="02020603050405020304" pitchFamily="18" charset="0"/>
                        </a:rPr>
                        <a:t>5</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0.28</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7</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Open</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Alert</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280670">
                <a:tc>
                  <a:txBody>
                    <a:bodyPr/>
                    <a:p>
                      <a:r>
                        <a:rPr sz="1100">
                          <a:latin typeface="Times New Roman" panose="02020603050405020304" pitchFamily="18" charset="0"/>
                          <a:cs typeface="Times New Roman" panose="02020603050405020304" pitchFamily="18" charset="0"/>
                        </a:rPr>
                        <a:t>6</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0.10</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30</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Closed</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Drowsy</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280670">
                <a:tc>
                  <a:txBody>
                    <a:bodyPr/>
                    <a:p>
                      <a:r>
                        <a:rPr sz="1100">
                          <a:latin typeface="Times New Roman" panose="02020603050405020304" pitchFamily="18" charset="0"/>
                          <a:cs typeface="Times New Roman" panose="02020603050405020304" pitchFamily="18" charset="0"/>
                        </a:rPr>
                        <a:t>7</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0.35</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4</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Open</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Alert</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280670">
                <a:tc>
                  <a:txBody>
                    <a:bodyPr/>
                    <a:p>
                      <a:r>
                        <a:rPr sz="1100">
                          <a:latin typeface="Times New Roman" panose="02020603050405020304" pitchFamily="18" charset="0"/>
                          <a:cs typeface="Times New Roman" panose="02020603050405020304" pitchFamily="18" charset="0"/>
                        </a:rPr>
                        <a:t>8</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0.14</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22</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Closed</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Drowsy</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280670">
                <a:tc>
                  <a:txBody>
                    <a:bodyPr/>
                    <a:p>
                      <a:r>
                        <a:rPr sz="1100">
                          <a:latin typeface="Times New Roman" panose="02020603050405020304" pitchFamily="18" charset="0"/>
                          <a:cs typeface="Times New Roman" panose="02020603050405020304" pitchFamily="18" charset="0"/>
                        </a:rPr>
                        <a:t>9</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0.31</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5</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Open</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Alert</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280670">
                <a:tc>
                  <a:txBody>
                    <a:bodyPr/>
                    <a:p>
                      <a:r>
                        <a:rPr sz="1100">
                          <a:latin typeface="Times New Roman" panose="02020603050405020304" pitchFamily="18" charset="0"/>
                          <a:cs typeface="Times New Roman" panose="02020603050405020304" pitchFamily="18" charset="0"/>
                        </a:rPr>
                        <a:t>10</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0.11</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28</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Closed</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r>
                        <a:rPr sz="1100">
                          <a:latin typeface="Times New Roman" panose="02020603050405020304" pitchFamily="18" charset="0"/>
                          <a:cs typeface="Times New Roman" panose="02020603050405020304" pitchFamily="18" charset="0"/>
                        </a:rPr>
                        <a:t>Drowsy</a:t>
                      </a:r>
                      <a:endParaRPr sz="1100">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4"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547446" y="582931"/>
            <a:ext cx="6063176" cy="645160"/>
          </a:xfrm>
          <a:prstGeom prst="rect">
            <a:avLst/>
          </a:prstGeom>
          <a:noFill/>
        </p:spPr>
        <p:txBody>
          <a:bodyPr wrap="square" rtlCol="0">
            <a:spAutoFit/>
          </a:bodyPr>
          <a:lstStyle/>
          <a:p>
            <a:pPr algn="ctr"/>
            <a:r>
              <a:rPr lang="en-IN" sz="3600" b="1" u="sng" dirty="0" smtClean="0">
                <a:solidFill>
                  <a:srgbClr val="002060"/>
                </a:solidFill>
                <a:latin typeface="Times New Roman" panose="02020603050405020304" pitchFamily="18" charset="0"/>
                <a:cs typeface="Times New Roman" panose="02020603050405020304" pitchFamily="18" charset="0"/>
              </a:rPr>
              <a:t>RESULTS</a:t>
            </a:r>
            <a:endParaRPr lang="en-IN" sz="3600" b="1" u="sng" dirty="0">
              <a:solidFill>
                <a:srgbClr val="002060"/>
              </a:solidFill>
              <a:latin typeface="Times New Roman" panose="02020603050405020304" pitchFamily="18" charset="0"/>
              <a:cs typeface="Times New Roman" panose="02020603050405020304" pitchFamily="18" charset="0"/>
            </a:endParaRPr>
          </a:p>
        </p:txBody>
      </p:sp>
      <p:pic>
        <p:nvPicPr>
          <p:cNvPr id="3" name="Picture 2" descr="ear"/>
          <p:cNvPicPr>
            <a:picLocks noChangeAspect="1"/>
          </p:cNvPicPr>
          <p:nvPr/>
        </p:nvPicPr>
        <p:blipFill>
          <a:blip r:embed="rId3"/>
          <a:stretch>
            <a:fillRect/>
          </a:stretch>
        </p:blipFill>
        <p:spPr>
          <a:xfrm>
            <a:off x="1821815" y="1423670"/>
            <a:ext cx="5514340" cy="2178050"/>
          </a:xfrm>
          <a:prstGeom prst="rect">
            <a:avLst/>
          </a:prstGeom>
        </p:spPr>
      </p:pic>
      <p:sp>
        <p:nvSpPr>
          <p:cNvPr id="7" name="Text Box 6"/>
          <p:cNvSpPr txBox="1"/>
          <p:nvPr/>
        </p:nvSpPr>
        <p:spPr>
          <a:xfrm>
            <a:off x="1829435" y="3821430"/>
            <a:ext cx="5781040" cy="368300"/>
          </a:xfrm>
          <a:prstGeom prst="rect">
            <a:avLst/>
          </a:prstGeom>
          <a:noFill/>
        </p:spPr>
        <p:txBody>
          <a:bodyPr wrap="square" rtlCol="0">
            <a:spAutoFit/>
          </a:bodyPr>
          <a:p>
            <a:r>
              <a:rPr lang="en-IN" altLang="en-US" b="1">
                <a:latin typeface="Times New Roman" panose="02020603050405020304" pitchFamily="18" charset="0"/>
                <a:cs typeface="Times New Roman" panose="02020603050405020304" pitchFamily="18" charset="0"/>
              </a:rPr>
              <a:t>               a.Active                                      b.Eye closed</a:t>
            </a:r>
            <a:endParaRPr lang="en-IN" alt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5226" y="416197"/>
            <a:ext cx="8229600" cy="822960"/>
          </a:xfrm>
          <a:prstGeom prst="rect">
            <a:avLst/>
          </a:prstGeom>
          <a:noFill/>
        </p:spPr>
        <p:txBody>
          <a:bodyPr wrap="square" rtlCol="0" anchor="ctr"/>
          <a:lstStyle/>
          <a:p>
            <a:pPr algn="ctr"/>
            <a:r>
              <a:rPr lang="en-IN" altLang="en-US" sz="2400" b="1" u="sng" dirty="0">
                <a:solidFill>
                  <a:srgbClr val="002060"/>
                </a:solidFill>
                <a:latin typeface="Times New Roman" panose="02020603050405020304" pitchFamily="18" charset="0"/>
                <a:ea typeface="Optima" pitchFamily="34" charset="-122"/>
                <a:cs typeface="Times New Roman" panose="02020603050405020304" pitchFamily="18" charset="0"/>
              </a:rPr>
              <a:t>CHALLENGES AND FUTURE WORKS</a:t>
            </a:r>
            <a:endParaRPr lang="en-IN" altLang="en-US" sz="2400" b="1" u="sng" dirty="0">
              <a:solidFill>
                <a:srgbClr val="002060"/>
              </a:solidFill>
              <a:latin typeface="Times New Roman" panose="02020603050405020304" pitchFamily="18" charset="0"/>
              <a:ea typeface="Optima" pitchFamily="34" charset="-122"/>
              <a:cs typeface="Times New Roman" panose="02020603050405020304" pitchFamily="18" charset="0"/>
            </a:endParaRPr>
          </a:p>
        </p:txBody>
      </p:sp>
      <p:pic>
        <p:nvPicPr>
          <p:cNvPr id="4"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
          <p:cNvSpPr>
            <a:spLocks noChangeArrowheads="1"/>
          </p:cNvSpPr>
          <p:nvPr/>
        </p:nvSpPr>
        <p:spPr bwMode="auto">
          <a:xfrm>
            <a:off x="643206" y="1378232"/>
            <a:ext cx="7791008" cy="3138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 system faces challenges such as reduced performance under poor lighting conditions, difficulty in detecting faces during head movements or occlusions, delays in real-time processing, and chances of false detection due to normal blinking patterns.</a:t>
            </a:r>
            <a:endParaRPr lang="en-US" altLang="en-US"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Additionally, low camera quality and limited dataset diversity can affect overall accuracy. Future improvements include using advanced deep learning models like CNN and LSTM to enhance accuracy, incorporating additional features such as yawning and head pose detection, optimizing the system for faster real-time performance, reducing false positives, improving image quality through preprocessing techniques, and expanding the dataset with diverse real-world scenarios for better reliability.</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a:xfrm>
            <a:off x="971552" y="488315"/>
            <a:ext cx="7200897" cy="977900"/>
          </a:xfrm>
        </p:spPr>
        <p:txBody>
          <a:bodyPr/>
          <a:p>
            <a:r>
              <a:rPr lang="en-IN" altLang="en-US" b="1">
                <a:latin typeface="Times New Roman" panose="02020603050405020304" pitchFamily="18" charset="0"/>
                <a:cs typeface="Times New Roman" panose="02020603050405020304" pitchFamily="18" charset="0"/>
              </a:rPr>
              <a:t>REFERENCES</a:t>
            </a:r>
            <a:endParaRPr lang="en-IN" altLang="en-US" b="1">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p>
            <a:fld id="{AF5A71B3-99A7-4C14-A482-14D54FB923BE}" type="datetime6">
              <a:rPr lang="en-US" smtClean="0"/>
            </a:fld>
            <a:endParaRPr lang="en-US"/>
          </a:p>
        </p:txBody>
      </p:sp>
      <p:pic>
        <p:nvPicPr>
          <p:cNvPr id="5"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9"/>
          <p:cNvSpPr txBox="1"/>
          <p:nvPr/>
        </p:nvSpPr>
        <p:spPr>
          <a:xfrm>
            <a:off x="1045210" y="1759585"/>
            <a:ext cx="6914515" cy="2553335"/>
          </a:xfrm>
          <a:prstGeom prst="rect">
            <a:avLst/>
          </a:prstGeom>
        </p:spPr>
        <p:txBody>
          <a:bodyPr wrap="square">
            <a:spAutoFit/>
          </a:bodyPr>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Zhang, Y., et al. (2024). Real-Time Eye State Detection Using Deep Learning Techniques.</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 Sharma, R., &amp; Gupta, P. (2023). Drowsiness Detection Using OpenCV and Haar Cascade Classifier.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 Kumar, S., et al. (2023). Real-Time Fatigue Detection Using YOLO-based Computer Vision Model.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 Chen, L., et al. (2022). Facial Landmark-Based Drowsiness Detection Using Eye Aspect Ratio (EAR).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 Singh, A., &amp; Verma, R. (2021). Machine Learning Approach for Fatigue Detection Using SVM.</a:t>
            </a:r>
            <a:endParaRPr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3587" y="1830872"/>
            <a:ext cx="4904256" cy="786926"/>
          </a:xfrm>
        </p:spPr>
        <p:txBody>
          <a:bodyPr>
            <a:noAutofit/>
          </a:bodyPr>
          <a:lstStyle/>
          <a:p>
            <a:r>
              <a:rPr lang="en-IN" sz="8000" dirty="0">
                <a:solidFill>
                  <a:srgbClr val="002060"/>
                </a:solidFill>
                <a:latin typeface="Lucida Handwriting" panose="03010101010101010101" charset="0"/>
                <a:cs typeface="Lucida Handwriting" panose="03010101010101010101" charset="0"/>
              </a:rPr>
              <a:t>Thank you!!!</a:t>
            </a:r>
            <a:endParaRPr lang="en-IN" sz="8000" dirty="0">
              <a:solidFill>
                <a:srgbClr val="002060"/>
              </a:solidFill>
              <a:latin typeface="Lucida Handwriting" panose="03010101010101010101" charset="0"/>
              <a:cs typeface="Lucida Handwriting" panose="03010101010101010101" charset="0"/>
            </a:endParaRPr>
          </a:p>
        </p:txBody>
      </p:sp>
      <p:pic>
        <p:nvPicPr>
          <p:cNvPr id="5"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6238</Words>
  <Application>WPS Presentation</Application>
  <PresentationFormat>On-screen Show (16:9)</PresentationFormat>
  <Paragraphs>254</Paragraphs>
  <Slides>13</Slides>
  <Notes>10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Arial</vt:lpstr>
      <vt:lpstr>Times New Roman</vt:lpstr>
      <vt:lpstr>Optima</vt:lpstr>
      <vt:lpstr>Wingdings</vt:lpstr>
      <vt:lpstr>Lucida Handwriting</vt:lpstr>
      <vt:lpstr>Microsoft YaHei</vt:lpstr>
      <vt:lpstr>Arial Unicode MS</vt:lpstr>
      <vt:lpstr>Garamond</vt:lpstr>
      <vt:lpstr>Calibri</vt:lpstr>
      <vt:lpstr>Organic</vt:lpstr>
      <vt:lpstr>PowerPoint 演示文稿</vt:lpstr>
      <vt:lpstr>PowerPoint 演示文稿</vt:lpstr>
      <vt:lpstr>PowerPoint 演示文稿</vt:lpstr>
      <vt:lpstr>  OBJECTIVES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REFERENCES</vt:lpstr>
      <vt:lpstr>Thank you!!!</vt:lpstr>
    </vt:vector>
  </TitlesOfParts>
  <Company>SlideMake.com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Analyze A Triple-Mode Calling Bell Using Transistors</dc:title>
  <dc:creator>SlideMake.com</dc:creator>
  <dc:subject>Design And Analyze A Triple-Mode Calling Bell Using Transistors</dc:subject>
  <cp:lastModifiedBy>aswini k</cp:lastModifiedBy>
  <cp:revision>33</cp:revision>
  <dcterms:created xsi:type="dcterms:W3CDTF">2025-03-19T04:22:00Z</dcterms:created>
  <dcterms:modified xsi:type="dcterms:W3CDTF">2026-07-31T02:46:15Z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248FC54637B942F89743FE29FCA29D6B_13</vt:lpwstr>
  </property>
  <property fmtid="{D5CDD505-2E9C-101B-9397-08002B2CF9AE}" pid="3" name="KSOProductBuildVer">
    <vt:lpwstr>1033-12.1.0.27458</vt:lpwstr>
  </property>
</Properties>
</file>