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9" r:id="rId5"/>
    <p:sldId id="258" r:id="rId6"/>
    <p:sldId id="261" r:id="rId7"/>
    <p:sldId id="262" r:id="rId8"/>
    <p:sldId id="265" r:id="rId9"/>
    <p:sldId id="266" r:id="rId10"/>
    <p:sldId id="272" r:id="rId11"/>
    <p:sldId id="268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16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86" autoAdjust="0"/>
    <p:restoredTop sz="86378" autoAdjust="0"/>
  </p:normalViewPr>
  <p:slideViewPr>
    <p:cSldViewPr snapToGrid="0" snapToObjects="1" showGuides="1">
      <p:cViewPr>
        <p:scale>
          <a:sx n="100" d="100"/>
          <a:sy n="100" d="100"/>
        </p:scale>
        <p:origin x="1253" y="216"/>
      </p:cViewPr>
      <p:guideLst>
        <p:guide orient="horz" pos="1620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-3346" y="-72"/>
      </p:cViewPr>
      <p:guideLst>
        <p:guide orient="horz" pos="2880"/>
        <p:guide pos="16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https://ae01.alicdn.com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https://www.build-electronic-circuits.com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https://thumbs.dreamstime.com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https://teachingwriting.stanford.edu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https://img.electronicdesign.com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https://i1.wp.com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7DEEDD-21BB-47E7-9586-8D8CBE4E2385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7AE056-E91C-4F84-BAD6-96EF71B921FE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EF51AE-A3EC-4B5C-BBEE-5BE19F0C3DE2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51B092-A2AF-4010-BE70-8179EC9A76A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5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5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D5A4D6-2F3E-4AB3-9AAD-F86FA4EC764A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E66CEF-9313-493D-BEA7-2A0502D264C9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E317F6-10D5-42F4-B923-70E953D3BE3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06C9CC-318C-4E70-91C2-BF570ACECC17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C43A1E-86A2-4906-915B-B8948254E49F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CBE081-D5C9-4A7B-9DD3-C94672E13DC0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49C7BF-8F33-40E1-812C-FF531E0DDC2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A88584-667A-4259-BFBF-A94EDBF130A5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E4C1AE-E74F-43DA-A6FD-DEBB92BB6EFF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959E1D-07A2-424D-9F84-A8007D176C56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F99FFF-5ADB-47B1-9372-435859E07032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E19873-A706-45F1-9AAD-6004FE125DCC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2F7F3-D792-441E-AF10-15B593449578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71B3-99A7-4C14-A482-14D54FB923BE}" type="datetime6">
              <a:rPr lang="en-US" smtClean="0"/>
              <a:t>July 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8DF114-BE6D-437F-A234-070E189FE2EA}" type="datetime6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July 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630" indent="-21463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430" indent="-21463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605" indent="-12890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505" indent="-12890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 panose="020B0604020202020204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face-recognition.readthedocs.io/" TargetMode="External"/><Relationship Id="rId4" Type="http://schemas.openxmlformats.org/officeDocument/2006/relationships/hyperlink" Target="https://opencv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471" y="1803079"/>
            <a:ext cx="8229600" cy="9355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71" y="541460"/>
            <a:ext cx="8110024" cy="11254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8058" y="2832784"/>
            <a:ext cx="4586068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KURUBA PARTHASARATHI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192312344 (ECE)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3472" y="3965119"/>
            <a:ext cx="297894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Dr.T.M.USHA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192" y="3060284"/>
            <a:ext cx="487445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CODE:ITA0518-COMPUTER VISION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DATE:31 JULY 2026</a:t>
            </a:r>
          </a:p>
        </p:txBody>
      </p:sp>
      <p:graphicFrame>
        <p:nvGraphicFramePr>
          <p:cNvPr id="3" name="Table 2"/>
          <p:cNvGraphicFramePr/>
          <p:nvPr>
            <p:extLst>
              <p:ext uri="{D42A27DB-BD31-4B8C-83A1-F6EECF244321}">
                <p14:modId xmlns:p14="http://schemas.microsoft.com/office/powerpoint/2010/main" val="3914424453"/>
              </p:ext>
            </p:extLst>
          </p:nvPr>
        </p:nvGraphicFramePr>
        <p:xfrm>
          <a:off x="2190750" y="1816100"/>
          <a:ext cx="4762500" cy="963930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393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Real-Time Face Recognition and Automated Attendance Management System Using Computer Vision </a:t>
                      </a:r>
                    </a:p>
                  </a:txBody>
                  <a:tcPr marL="23177" marR="23177" marT="15557" marB="15557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39174" y="381196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36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05155" y="1227455"/>
            <a:ext cx="7820025" cy="342802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Face recognition is a biometric technology used for identifying or verifying individuals.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Traditional attendance systems are time-consuming and prone to proxy attendance.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Computer Vision and Artificial Intelligence enable automatic face detection and recognition.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The proposed system captures faces through a camera and marks attendance automatically.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It improves accuracy, security, and efficiency in attendance management.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/>
              <a:t>The system provides real-time monitoring with minimal human intervention.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IMATS CGPA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56150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16523" y="313006"/>
            <a:ext cx="8229600" cy="10796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930498" y="4846320"/>
          <a:ext cx="5001650" cy="2971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09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2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7700" y="1209258"/>
            <a:ext cx="77336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sz="2200" dirty="0"/>
              <a:t>Manual attendance consumes valuable classroom or workplace time.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sz="2200" dirty="0"/>
              <a:t>Biometric systems require physical contact and additional hardware.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sz="2200" dirty="0"/>
              <a:t>Existing methods are vulnerable to proxy attendance and human errors.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sz="2200" dirty="0"/>
              <a:t>Maintaining attendance records manually is difficult and time-consuming.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sz="2200" dirty="0"/>
              <a:t>There is a need for a secure, contactless, and automated attendance system</a:t>
            </a:r>
            <a:r>
              <a:rPr lang="en-IN" dirty="0"/>
              <a:t>.</a:t>
            </a: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10" y="639825"/>
            <a:ext cx="7200897" cy="532544"/>
          </a:xfrm>
        </p:spPr>
        <p:txBody>
          <a:bodyPr>
            <a:normAutofit fontScale="90000"/>
          </a:bodyPr>
          <a:lstStyle/>
          <a:p>
            <a:br>
              <a:rPr lang="en-IN" b="1" u="sng" dirty="0">
                <a:solidFill>
                  <a:schemeClr val="accent3">
                    <a:lumMod val="50000"/>
                  </a:schemeClr>
                </a:solidFill>
              </a:rPr>
            </a:br>
            <a:br>
              <a:rPr lang="en-IN" b="1" u="sng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IN" b="1" u="sng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b="1" u="sng" dirty="0">
                <a:solidFill>
                  <a:schemeClr val="accent3">
                    <a:lumMod val="50000"/>
                  </a:schemeClr>
                </a:solidFill>
              </a:rPr>
            </a:br>
            <a:br>
              <a:rPr lang="en-IN" b="1" u="sng" dirty="0">
                <a:solidFill>
                  <a:schemeClr val="accent3">
                    <a:lumMod val="50000"/>
                  </a:schemeClr>
                </a:solidFill>
              </a:rPr>
            </a:br>
            <a:endParaRPr lang="en-IN" sz="1800" b="1" u="sng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71B3-99A7-4C14-A482-14D54FB923BE}" type="datetime6">
              <a:rPr lang="en-US" smtClean="0"/>
              <a:t>July 26</a:t>
            </a:fld>
            <a:endParaRPr lang="en-US"/>
          </a:p>
        </p:txBody>
      </p:sp>
      <p:pic>
        <p:nvPicPr>
          <p:cNvPr id="4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56150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8554" y="1512277"/>
            <a:ext cx="751214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face recognition system using Computer Vision.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detect and recognize registered individuals.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proxy attendance and manual errors.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attendance records in a database automatically.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attendance accuracy, speed, and reliability.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Literature Surevy</a:t>
            </a:r>
          </a:p>
        </p:txBody>
      </p:sp>
      <p:pic>
        <p:nvPicPr>
          <p:cNvPr id="3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44" y="455099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185620" y="4068305"/>
            <a:ext cx="12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1183640" y="1143000"/>
          <a:ext cx="6926580" cy="3339465"/>
        </p:xfrm>
        <a:graphic>
          <a:graphicData uri="http://schemas.openxmlformats.org/drawingml/2006/table">
            <a:tbl>
              <a:tblPr/>
              <a:tblGrid>
                <a:gridCol w="17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Technology Used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635"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eye state detection using deep learning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 and high computational power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&amp; Gupta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with Haar Cascade for face and eye detection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in low lighting conditions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 for real-time face detection with drowsiness classification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 and hardware dependency</a:t>
                      </a:r>
                    </a:p>
                  </a:txBody>
                  <a:tcPr marL="0" marR="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Dlib facial landmarks with Eye Aspect Ratio (EAR) method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head movement and camera angle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&amp; Verma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using SVM for drowsiness detection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accuracy compared to deep learning approaches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035854" y="641545"/>
            <a:ext cx="7005711" cy="638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EXISTING SYSTEM </a:t>
            </a:r>
            <a:endParaRPr lang="en-IN" altLang="en-US" sz="28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08892" y="1310102"/>
            <a:ext cx="7542162" cy="30104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Attendance is recorded manually or using biometric fingerprint scanners.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Requires physical interaction with devices.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Time-consuming for large classrooms or organizations.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Susceptible to proxy attendance and human errors.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Limited security and scalability. </a:t>
            </a:r>
          </a:p>
          <a:p>
            <a:r>
              <a:rPr lang="en-IN" b="1" dirty="0"/>
              <a:t>Disadvantages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Slow attendance process.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Chances of fake attendance.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Hygiene concerns in fingerprint systems.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4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152732" y="598029"/>
            <a:ext cx="6679894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</p:txBody>
      </p:sp>
      <p:pic>
        <p:nvPicPr>
          <p:cNvPr id="2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SIMATS CGPA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29" y="579463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9814" y="1893850"/>
            <a:ext cx="772311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/>
              <a:t>Captures live video using a webcam.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/>
              <a:t>Detects faces using Computer Vision techniques.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/>
              <a:t>Recognizes faces using AI-based face recognition algorithms.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/>
              <a:t>Automatically marks attendance with date and time.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/>
              <a:t>Stores attendance records in a database or Excel file.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200" dirty="0"/>
              <a:t>Generates attendance reports for administrators.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09489" y="423839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altLang="en-US" sz="36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66289" y="1350655"/>
            <a:ext cx="1681285" cy="369333"/>
          </a:xfrm>
          <a:prstGeom prst="rect">
            <a:avLst/>
          </a:prstGeom>
          <a:noFill/>
        </p:spPr>
        <p:txBody>
          <a:bodyPr wrap="square" rtlCol="0" anchor="t"/>
          <a:lstStyle/>
          <a:p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7395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683260" y="1345575"/>
            <a:ext cx="7312025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Programming Language :</a:t>
            </a:r>
            <a:r>
              <a:rPr lang="en-IN" dirty="0"/>
              <a:t>Python </a:t>
            </a:r>
          </a:p>
          <a:p>
            <a:r>
              <a:rPr lang="en-IN" b="1" dirty="0"/>
              <a:t>Libraries: </a:t>
            </a:r>
            <a:r>
              <a:rPr lang="en-IN" dirty="0"/>
              <a:t>OpenCV </a:t>
            </a:r>
          </a:p>
          <a:p>
            <a:pPr lvl="0"/>
            <a:r>
              <a:rPr lang="en-IN" dirty="0"/>
              <a:t>NumPy </a:t>
            </a:r>
          </a:p>
          <a:p>
            <a:pPr lvl="0"/>
            <a:r>
              <a:rPr lang="en-IN" dirty="0"/>
              <a:t>Face Recognition Library </a:t>
            </a:r>
          </a:p>
          <a:p>
            <a:pPr lvl="0"/>
            <a:r>
              <a:rPr lang="en-IN" dirty="0"/>
              <a:t>Pandas </a:t>
            </a:r>
          </a:p>
          <a:p>
            <a:pPr lvl="0"/>
            <a:r>
              <a:rPr lang="en-IN" dirty="0" err="1"/>
              <a:t>dlib</a:t>
            </a:r>
            <a:r>
              <a:rPr lang="en-IN" dirty="0"/>
              <a:t> </a:t>
            </a:r>
          </a:p>
          <a:p>
            <a:r>
              <a:rPr lang="en-IN" b="1" dirty="0"/>
              <a:t>Development Tools :</a:t>
            </a:r>
            <a:r>
              <a:rPr lang="en-IN" dirty="0"/>
              <a:t>Visual Studio Code ,Jupyter Notebook. </a:t>
            </a:r>
          </a:p>
          <a:p>
            <a:r>
              <a:rPr lang="en-IN" b="1" dirty="0"/>
              <a:t>Database :</a:t>
            </a:r>
            <a:r>
              <a:rPr lang="en-IN" dirty="0"/>
              <a:t>SQLite / MySQL / Excel (CSV) </a:t>
            </a:r>
          </a:p>
          <a:p>
            <a:r>
              <a:rPr lang="en-IN" b="1" dirty="0"/>
              <a:t>Hardware:</a:t>
            </a:r>
          </a:p>
          <a:p>
            <a:pPr lvl="0"/>
            <a:r>
              <a:rPr lang="en-IN" dirty="0"/>
              <a:t>Webcam </a:t>
            </a:r>
          </a:p>
          <a:p>
            <a:pPr lvl="0"/>
            <a:r>
              <a:rPr lang="en-IN" dirty="0"/>
              <a:t>Computer/Laptop</a:t>
            </a:r>
          </a:p>
          <a:p>
            <a:pPr marL="285750" indent="-285750" algn="just">
              <a:buFont typeface="Wingdings" panose="05000000000000000000" charset="0"/>
              <a:buChar char="Ø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8913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IN" altLang="en-US" sz="3600" b="1" u="sng" dirty="0">
                <a:solidFill>
                  <a:srgbClr val="00206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DATA SET </a:t>
            </a:r>
          </a:p>
        </p:txBody>
      </p:sp>
      <p:pic>
        <p:nvPicPr>
          <p:cNvPr id="3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IMATS CGPA Calcula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63184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476FEF-2E59-32C5-C87B-EE126639B14D}"/>
              </a:ext>
            </a:extLst>
          </p:cNvPr>
          <p:cNvSpPr txBox="1"/>
          <p:nvPr/>
        </p:nvSpPr>
        <p:spPr>
          <a:xfrm>
            <a:off x="1244794" y="1455420"/>
            <a:ext cx="60551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Custom dataset created by capturing multiple face images of each individual.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Approximately </a:t>
            </a:r>
            <a:r>
              <a:rPr lang="en-IN" b="1" dirty="0"/>
              <a:t>20–50 images per person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Images collected under different lighting conditions and facial expressions.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Dataset divided into: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Training Set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Testing Set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Images resized and </a:t>
            </a:r>
            <a:r>
              <a:rPr lang="en-IN" dirty="0" err="1"/>
              <a:t>preprocessed</a:t>
            </a:r>
            <a:r>
              <a:rPr lang="en-IN" dirty="0"/>
              <a:t> before training.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488315"/>
            <a:ext cx="7200897" cy="977900"/>
          </a:xfrm>
        </p:spPr>
        <p:txBody>
          <a:bodyPr/>
          <a:lstStyle/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71B3-99A7-4C14-A482-14D54FB923BE}" type="datetime6">
              <a:rPr lang="en-US" smtClean="0"/>
              <a:t>July 26</a:t>
            </a:fld>
            <a:endParaRPr lang="en-US"/>
          </a:p>
        </p:txBody>
      </p:sp>
      <p:pic>
        <p:nvPicPr>
          <p:cNvPr id="5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35048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9"/>
          <p:cNvSpPr txBox="1"/>
          <p:nvPr/>
        </p:nvSpPr>
        <p:spPr>
          <a:xfrm>
            <a:off x="1007622" y="1324172"/>
            <a:ext cx="741299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OpenCV Documentation – </a:t>
            </a:r>
            <a:r>
              <a:rPr lang="en-IN" dirty="0">
                <a:hlinkClick r:id="rId4"/>
              </a:rPr>
              <a:t>https://opencv.org/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Face Recognition Python Library Documentation – </a:t>
            </a:r>
            <a:r>
              <a:rPr lang="en-IN" dirty="0">
                <a:hlinkClick r:id="rId5"/>
              </a:rPr>
              <a:t>https://face-recognition.readthedocs.io/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Davis E. King, "</a:t>
            </a:r>
            <a:r>
              <a:rPr lang="en-IN" dirty="0" err="1"/>
              <a:t>Dlib</a:t>
            </a:r>
            <a:r>
              <a:rPr lang="en-IN" dirty="0"/>
              <a:t>-ml: A Machine Learning Toolkit", Journal of Machine Learning Research.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Schroff F., </a:t>
            </a:r>
            <a:r>
              <a:rPr lang="en-IN" dirty="0" err="1"/>
              <a:t>Kalenichenko</a:t>
            </a:r>
            <a:r>
              <a:rPr lang="en-IN" dirty="0"/>
              <a:t> D., Philbin J., "</a:t>
            </a:r>
            <a:r>
              <a:rPr lang="en-IN" dirty="0" err="1"/>
              <a:t>FaceNet</a:t>
            </a:r>
            <a:r>
              <a:rPr lang="en-IN" dirty="0"/>
              <a:t>: A Unified Embedding for Face Recognition and Clustering", CVPR 2015.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Richard </a:t>
            </a:r>
            <a:r>
              <a:rPr lang="en-IN" dirty="0" err="1"/>
              <a:t>Szeliski</a:t>
            </a:r>
            <a:r>
              <a:rPr lang="en-IN" dirty="0"/>
              <a:t>, </a:t>
            </a:r>
            <a:r>
              <a:rPr lang="en-IN" b="1" dirty="0"/>
              <a:t>Computer Vision: Algorithms and Applications</a:t>
            </a:r>
            <a:r>
              <a:rPr lang="en-IN" dirty="0"/>
              <a:t>, Springer.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Relevant IEEE papers on Face Recognition and Automated Attendance Systems.</a:t>
            </a:r>
          </a:p>
          <a:p>
            <a:pPr algn="just"/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3587" y="1830872"/>
            <a:ext cx="4904256" cy="786926"/>
          </a:xfrm>
        </p:spPr>
        <p:txBody>
          <a:bodyPr>
            <a:noAutofit/>
          </a:bodyPr>
          <a:lstStyle/>
          <a:p>
            <a:r>
              <a:rPr lang="en-IN" sz="8000" dirty="0">
                <a:solidFill>
                  <a:srgbClr val="002060"/>
                </a:solidFill>
                <a:latin typeface="Lucida Handwriting" panose="03010101010101010101" charset="0"/>
                <a:cs typeface="Lucida Handwriting" panose="03010101010101010101" charset="0"/>
              </a:rPr>
              <a:t>Thank you!!!</a:t>
            </a:r>
          </a:p>
        </p:txBody>
      </p:sp>
      <p:pic>
        <p:nvPicPr>
          <p:cNvPr id="5" name="Picture 6" descr="SIMATS CGPA Calcu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26" y="435048"/>
            <a:ext cx="769568" cy="8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625" y="488023"/>
            <a:ext cx="836149" cy="83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98</TotalTime>
  <Words>688</Words>
  <Application>Microsoft Office PowerPoint</Application>
  <PresentationFormat>On-screen Show (16:9)</PresentationFormat>
  <Paragraphs>114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Garamond</vt:lpstr>
      <vt:lpstr>Lucida Handwriting</vt:lpstr>
      <vt:lpstr>Times New Roman</vt:lpstr>
      <vt:lpstr>Wingdings</vt:lpstr>
      <vt:lpstr>Organic</vt:lpstr>
      <vt:lpstr>PowerPoint Presentation</vt:lpstr>
      <vt:lpstr>PowerPoint Presentation</vt:lpstr>
      <vt:lpstr>PowerPoint Presentation</vt:lpstr>
      <vt:lpstr>  OBJECTIVES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you!!!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Analyze A Triple-Mode Calling Bell Using Transistors</dc:title>
  <dc:subject>Design And Analyze A Triple-Mode Calling Bell Using Transistors</dc:subject>
  <dc:creator>SlideMake.com</dc:creator>
  <cp:lastModifiedBy>POORNIMA KURUBA</cp:lastModifiedBy>
  <cp:revision>35</cp:revision>
  <dcterms:created xsi:type="dcterms:W3CDTF">2025-03-19T04:22:00Z</dcterms:created>
  <dcterms:modified xsi:type="dcterms:W3CDTF">2026-07-31T04:28:55Z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248FC54637B942F89743FE29FCA29D6B_13</vt:lpwstr>
  </property>
  <property fmtid="{D5CDD505-2E9C-101B-9397-08002B2CF9AE}" pid="3" name="KSOProductBuildVer">
    <vt:lpwstr>1033-12.1.0.27458</vt:lpwstr>
  </property>
</Properties>
</file>